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— cualquiera abre. Presentar brevemente al equipo y el caso (tienda de hogar) en 20-30 segundos, sin leer los nombres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Micaela — Caso de negocio (2 min). Explicar el problema de negocio y las 3 preguntas de investigacion. Cerrar con el dato del dataset: 9.298 registros, 400 clientes, formato CSV transaccional.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Micaela — Metodologia (2 min). Recorrer las 6 fases de CRISP-DM sin detenerse en cada una; poner enfasis en el dato de los 65 duplicados eliminados, ya que es un hallazgo propio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Horacio — K-Means setup (2 min). Explicar las 3 variables RFM y por que hace falta estandarizarlas. Justificar K=4 mostrando el grafico de codo/silueta: aclarar por que no se eligio K=2 pese a tener mayor silhouette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Horacio — K-Means resultados (2 min). Presentar los 4 perfiles uno por uno. Remarcar el insight fuerte: Activos Frecuentes es 20% de los clientes pero genera 37% de los ingresos.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— APRIORI setup (2 min). Explicar que es una regla de asociacion con un ejemplo simple. Justificar min_support=2% con el criterio de negocio (no ruido estadistico).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— APRIORI resultados (2 min). Explicar la regla mas fuerte (Tarjeta Saludo -&gt; Bolsa Regalo + Papel Tissue, lift 11.86x) en lenguaje simple: comprar A hace 11.86 veces mas probable comprar B que al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 — Conclusiones y recomendaciones (2 min). Presentar las 3 recomendaciones conectando cada una con el modelo que la origino. Cerrar con la frase de sintesis.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 — Cierre (30 seg). Agradecer y abrir a preguntas. Tener a mano los numeros clave por si preguntan: Silhouette 0.4874, 70 reglas, lift maximo 11.86x.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basket_whit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Y MODELIZADO DE DATOS · IFTS N°24 · 1° CUATRIMESTRE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de Clientes y Análisis de Canasta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aplicado con K-Means y APRIORI sobre una tienda argentina de artículos del hogar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50749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Micaela Dominguez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50749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Horacio Barrabasqui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50749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Mealla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69680" y="50749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Estigarribia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— Proyecto Final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4592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argentina de artículos del hogar (velas, cocina, decoración, aromatización, regalería) quiere fortalecer sus ventas con promociones dirigidas, pero no conoce el comportamiento de compra de sus clientes.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investigación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grupos de clientes existen según su comportamiento de compra?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productos se compran juntos con mayor frecuencia?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acciones concretas puede tomar el negocio a partir de estos hallazgos?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36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9.298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(tras limpieza)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0" y="1536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281160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31546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319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31546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3319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81160" y="4023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argentinos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47548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7FA0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9" name="Image 0" descr="assets/icon_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98348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transaccional simulado (CSV) — online_retail_hogar.csv, formato factura/producto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— CRISP-DM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assets/icon_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602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negocio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caso, objetivos y preguntas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459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assets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7602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los datos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6344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distribuciones, estadísticas descriptivas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2" descr="assets/icon_bro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602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0996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5820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RFM, estandarización, matriz de canasta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4" name="Image 3" descr="assets/icon_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9547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2044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686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68680" y="4910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+ APRIORI (min_support 2%)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43484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63440" y="38404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0" name="Image 4" descr="assets/icon_bulls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39547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634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663440" y="4910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· Lift y Confianza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6" name="Image 5" descr="assets/icon_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95478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0996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45820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458200" y="4910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accionables al área comercial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640080" y="58521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B85042"/>
          </a:solidFill>
          <a:ln/>
        </p:spPr>
      </p:sp>
      <p:sp>
        <p:nvSpPr>
          <p:cNvPr id="41" name="Text 33"/>
          <p:cNvSpPr/>
          <p:nvPr/>
        </p:nvSpPr>
        <p:spPr>
          <a:xfrm>
            <a:off x="914400" y="5852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aplicada:  </a:t>
            </a:r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nulos   ·   65 registros duplicados detectados y eliminados (9.363 → 9.298 filas)   ·   variables RFM estandarizadas con StandardScaler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Segmentación de clientes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comportamiento (RFM)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5F5E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7FA0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desde la última compra — menor = cliente más activo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5F5E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7FA0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791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facturas distintas — mayor = cliente más fiel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5F5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7FA0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5478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todas las compras — mayor = cliente más valioso</a:t>
            </a:r>
            <a:endParaRPr lang="en-US" sz="1300" dirty="0"/>
          </a:p>
        </p:txBody>
      </p:sp>
      <p:pic>
        <p:nvPicPr>
          <p:cNvPr id="17" name="Image 0" descr="assets/grafico_elbow_silhou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577840" cy="19842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0080" y="4526280"/>
            <a:ext cx="10927080" cy="1691640"/>
          </a:xfrm>
          <a:prstGeom prst="roundRect">
            <a:avLst>
              <a:gd name="adj" fmla="val 4324"/>
            </a:avLst>
          </a:prstGeom>
          <a:solidFill>
            <a:srgbClr val="2B1F1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4681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hiperparámetros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5029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Silhouette entre K≥3 (0.4874) y coincide con el codo. K=2 da Silhouette global máximo (0.5255) pero con solo 2 segmentos aporta poco valor de negocio.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80560" y="5029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= k-means++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inteligente que reduce el riesgo de converger a un mínimo local.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0" y="5029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n_init=10 · max_iter=300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corridas completas, se conserva la de menor inercia. Convergencia real: 7 iteraciones.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Los 4 perfiles de clientes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assets/icon_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días · Frec. 24,2 · $2.693.343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" y="4114800"/>
            <a:ext cx="22402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178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 ·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47288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5C837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assets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Activos Frecuentes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0168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3630168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30168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días · Frec. 13,0 · $1.397.330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30168" y="4114800"/>
            <a:ext cx="22402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0168" y="4178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 ·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54496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7FA0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assets/icon_bas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544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376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Ocasionales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37376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6437376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37376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días · Frec. 4,5 · $481.555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437376" y="4114800"/>
            <a:ext cx="22402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37376" y="4178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49,8%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 ·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61704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3D2B2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9" name="Image 3" descr="assets/icon_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55448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44584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Riesgo / Dormidos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244584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9244584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244584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días · Frec. 1,9 · $205.989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244584" y="4114800"/>
            <a:ext cx="22402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244584" y="4178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 ·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 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final: 0,4874  →  separación aceptable entre segmentos. Los Activos Frecuentes (20% de los clientes) generan el 37% de los ingresos: el segmento más rentable por cliente.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— Reglas de asociación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productos se compran juntos?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combinaciones de productos (itemsets) que superen el umbral min_support.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</a:t>
            </a:r>
            <a:pPr indent="0" marL="0">
              <a:buNone/>
            </a:pPr>
            <a:r>
              <a:rPr lang="en-US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reglas A → B, evaluadas por Soporte, Confianza y Lift.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5F5E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11680" y="3063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∩ 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del itemset en el total de compras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721608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5F5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11680" y="3721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P(B|A)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37216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comprar B si ya se compró 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379976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5F5E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799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11680" y="4379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Confianza / P(B)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440" y="43799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 indica asociación real, no azar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B1F1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9" name="Image 0" descr="assets/icon_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6304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4088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hiperparámetros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46520" y="2148840"/>
            <a:ext cx="48463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2%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itemset debe aparecer en al menos el 2% de las facturas para considerarse relevante a nivel de negocio (no ruido estadístico).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min_confidence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reglas poco fiables: se prioriza que, dado el producto A, la probabilidad real de compra de B sea alta.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reglas de asociación generadas a partir de la matriz transaccional binaria (una fila por factura, una columna por producto).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— Principales hallazgos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pic>
        <p:nvPicPr>
          <p:cNvPr id="4" name="Image 0" descr="assets/grafico_heatmap_li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80160"/>
            <a:ext cx="521208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2801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MÁS FUERTE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55080" y="1737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Saludo</a:t>
            </a:r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Regalo Pequeña + Papel Tissue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5080" y="2514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11,86x</a:t>
            </a:r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Confianza 35,7%   ·   Soporte 2,9%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246120"/>
          <a:ext cx="5486400" cy="1463040"/>
        </p:xfrm>
        <a:graphic>
          <a:graphicData uri="http://schemas.openxmlformats.org/drawingml/2006/table">
            <a:tbl>
              <a:tblPr/>
              <a:tblGrid>
                <a:gridCol w="2834640"/>
                <a:gridCol w="868680"/>
                <a:gridCol w="914400"/>
                <a:gridCol w="868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Soporte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Confianza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F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Papel Tissue + Tarjeta → Bolsa Regalo Peq.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2,9%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85,1%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10,65x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Bolsa Regalo Grande + Cesta → Lazo Decorat.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3,2%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94,7%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8,31x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Papel Tissue → Bolsa Regalo + Tarjeta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2,9%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26,7%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8,27x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Vela Lavanda + Vainilla → Portavelas Cristal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3,5%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92,5%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1F1A"/>
                          </a:solidFill>
                        </a:rPr>
                        <a:t>6,92x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08076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reglas generadas en total — se muestran las de mayor lift.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assets/icon_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77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SEGMENTO VIP / ACTIVOS FRECUENTES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fidelización de alto valor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27% de los clientes (VIP + Activos Frecuentes) genera el 62% de los ingresos. Crear un programa de beneficios exclusivos para retenerlos y aumentar su frecuencia de compra.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assets/icon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377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REGLAS DE ASOCIACIÓN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1772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Combo "Regalo Listo" con descuento cruzado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Saludo + Bolsa Regalo + Papel Tissue se compran juntos con Lift 11,86x. Armar un combo promocional visible en góndola y online.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2" descr="assets/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377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F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SEGMENTO EN RIESGO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2104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Campaña de reactivación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2104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clientes (23%) llevan en promedio 280 días sin comprar. Enviar un cupón de reactivación segmentado antes de perderlos definitivamente.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modelos coinciden en una misma conclusión: la rentabilidad no está distribuida parejo entre los clientes — y ahora sabemos exactamente dónde enfocar los recursos comerciales.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Micaela Dominguez   ·   Horacio Barrabasqui   ·   Diego Mealla   ·   Carlos Estigarribia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github.com/hbarrabasqui/MMD_1Q_2026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Final — Minería y Modelizado de Datos</dc:title>
  <dc:subject>PptxGenJS Presentation</dc:subject>
  <dc:creator>Micaela Dominguez, Horacio Barrabasqui, Diego Mealla, Carlos Estigarribia</dc:creator>
  <cp:lastModifiedBy>Micaela Dominguez, Horacio Barrabasqui, Diego Mealla, Carlos Estigarribia</cp:lastModifiedBy>
  <cp:revision>1</cp:revision>
  <dcterms:created xsi:type="dcterms:W3CDTF">2026-07-01T20:28:36Z</dcterms:created>
  <dcterms:modified xsi:type="dcterms:W3CDTF">2026-07-01T20:28:36Z</dcterms:modified>
</cp:coreProperties>
</file>